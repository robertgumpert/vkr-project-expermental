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70" r:id="rId11"/>
    <p:sldId id="261" r:id="rId12"/>
    <p:sldId id="262" r:id="rId13"/>
    <p:sldId id="271" r:id="rId14"/>
    <p:sldId id="272" r:id="rId15"/>
    <p:sldId id="273" r:id="rId16"/>
    <p:sldId id="284" r:id="rId17"/>
    <p:sldId id="274" r:id="rId18"/>
    <p:sldId id="275" r:id="rId19"/>
    <p:sldId id="276" r:id="rId20"/>
    <p:sldId id="278" r:id="rId21"/>
    <p:sldId id="279" r:id="rId22"/>
    <p:sldId id="280" r:id="rId23"/>
    <p:sldId id="281" r:id="rId24"/>
    <p:sldId id="282" r:id="rId25"/>
    <p:sldId id="264" r:id="rId26"/>
    <p:sldId id="285" r:id="rId27"/>
    <p:sldId id="265" r:id="rId28"/>
    <p:sldId id="283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Светлый стиль 2 -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Средний стиль 1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72" autoAdjust="0"/>
    <p:restoredTop sz="94637" autoAdjust="0"/>
  </p:normalViewPr>
  <p:slideViewPr>
    <p:cSldViewPr>
      <p:cViewPr varScale="1">
        <p:scale>
          <a:sx n="128" d="100"/>
          <a:sy n="128" d="100"/>
        </p:scale>
        <p:origin x="-15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2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99B76-7E75-4D61-929C-3CF763BFD015}" type="datetimeFigureOut">
              <a:rPr lang="ru-RU" smtClean="0"/>
              <a:t>14.06.2020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7747F-4924-4422-9D4F-32EE064D94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809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17747F-4924-4422-9D4F-32EE064D94C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463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275617D-B04F-4718-BF75-97155B010D7B}" type="datetime1">
              <a:rPr lang="ru-RU" smtClean="0"/>
              <a:t>14.06.2020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D72A4-5D0D-42C6-85B9-FA3C021BB2D0}" type="datetime1">
              <a:rPr lang="ru-RU" smtClean="0"/>
              <a:t>14.06.2020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0290FC3D-E787-45FE-ADBF-D46C74847FC7}" type="datetime1">
              <a:rPr lang="ru-RU" smtClean="0"/>
              <a:t>14.06.2020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FB57D-DC96-47CB-A41D-542E7D162A5A}" type="datetime1">
              <a:rPr lang="ru-RU" smtClean="0"/>
              <a:t>14.06.2020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62238-7436-4B5A-9204-91A169C36CFD}" type="datetime1">
              <a:rPr lang="ru-RU" smtClean="0"/>
              <a:t>14.06.2020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E9AFB-562B-450A-8E09-D913FB3B367A}" type="datetime1">
              <a:rPr lang="ru-RU" smtClean="0"/>
              <a:t>14.06.2020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3B220-555F-4605-AE19-BE40775A35A2}" type="datetime1">
              <a:rPr lang="ru-RU" smtClean="0"/>
              <a:t>14.06.2020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A31A-C316-40BF-AC14-701ACA08C1AC}" type="datetime1">
              <a:rPr lang="ru-RU" smtClean="0"/>
              <a:t>14.06.2020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Объект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9B731-DB92-4DB8-AC73-DD78A278FA21}" type="datetime1">
              <a:rPr lang="ru-RU" smtClean="0"/>
              <a:t>14.06.2020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2A30C-C857-472D-BDB4-B96C02B1EF32}" type="datetime1">
              <a:rPr lang="ru-RU" smtClean="0"/>
              <a:t>14.06.2020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0407-EB46-4FDF-9206-ACC78C357F95}" type="datetime1">
              <a:rPr lang="ru-RU" smtClean="0"/>
              <a:t>14.06.2020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D0E2D32-932F-4939-B4D9-269CCBBCF8FB}" type="datetime1">
              <a:rPr lang="ru-RU" smtClean="0"/>
              <a:t>14.06.2020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EC76CCC-7CB1-4E7E-ADAD-75D5E03C7A7A}" type="slidenum">
              <a:rPr lang="ru-RU" smtClean="0"/>
              <a:t>‹#›</a:t>
            </a:fld>
            <a:endParaRPr lang="ru-RU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09782" y="908720"/>
            <a:ext cx="7848600" cy="2390105"/>
          </a:xfrm>
        </p:spPr>
        <p:txBody>
          <a:bodyPr/>
          <a:lstStyle/>
          <a:p>
            <a:r>
              <a:rPr lang="ru-RU" sz="3600" cap="none" dirty="0" smtClean="0"/>
              <a:t>Разработка </a:t>
            </a:r>
            <a:r>
              <a:rPr lang="ru-RU" sz="3600" cap="none" dirty="0"/>
              <a:t>системы автоматического извлечения временных рядов из реляционных баз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3717032"/>
            <a:ext cx="7990656" cy="1752600"/>
          </a:xfrm>
        </p:spPr>
        <p:txBody>
          <a:bodyPr/>
          <a:lstStyle/>
          <a:p>
            <a:r>
              <a:rPr lang="ru-RU" dirty="0" smtClean="0"/>
              <a:t>Выполнила: студентка гр. Пибд-41 Кребс А.П.</a:t>
            </a:r>
          </a:p>
          <a:p>
            <a:r>
              <a:rPr lang="ru-RU" dirty="0" smtClean="0"/>
              <a:t>Научный руководитель</a:t>
            </a:r>
            <a:r>
              <a:rPr lang="ru-RU" dirty="0"/>
              <a:t>: доцент кафедры «ИС», к.т.н</a:t>
            </a:r>
            <a:r>
              <a:rPr lang="ru-RU" dirty="0" smtClean="0"/>
              <a:t>. </a:t>
            </a:r>
          </a:p>
          <a:p>
            <a:r>
              <a:rPr lang="ru-RU" dirty="0" smtClean="0"/>
              <a:t>Романов А.А.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660341" y="5173161"/>
            <a:ext cx="2522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ru-RU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Ульяновск, 2020 год</a:t>
            </a:r>
          </a:p>
        </p:txBody>
      </p:sp>
    </p:spTree>
    <p:extLst>
      <p:ext uri="{BB962C8B-B14F-4D97-AF65-F5344CB8AC3E}">
        <p14:creationId xmlns:p14="http://schemas.microsoft.com/office/powerpoint/2010/main" val="202691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2</a:t>
            </a:fld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Прогнозирование поведения слабоструктурированных процессов, протекающих в сложных организационных системах, традиционно основано на анализе временных рядов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Отсутствие известных инструментов автоматизации процесса извлечения временных рядов оставляет вопрос удобного сбора данных из баз данных актуальным.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696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Аналоги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3</a:t>
            </a:fld>
            <a:endParaRPr lang="ru-RU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49786"/>
              </p:ext>
            </p:extLst>
          </p:nvPr>
        </p:nvGraphicFramePr>
        <p:xfrm>
          <a:off x="467544" y="1340768"/>
          <a:ext cx="8208912" cy="489654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448272"/>
                <a:gridCol w="1080120"/>
                <a:gridCol w="1800200"/>
                <a:gridCol w="720080"/>
                <a:gridCol w="1224136"/>
                <a:gridCol w="936104"/>
              </a:tblGrid>
              <a:tr h="505004"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Название аналога</a:t>
                      </a:r>
                      <a:endParaRPr lang="ru-RU" sz="11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DataMarket</a:t>
                      </a:r>
                      <a:endParaRPr lang="ru-RU" sz="11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Google</a:t>
                      </a: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Fusion</a:t>
                      </a: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4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Tables</a:t>
                      </a:r>
                      <a:endParaRPr lang="ru-RU" sz="11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Solver</a:t>
                      </a:r>
                      <a:endParaRPr lang="ru-RU" sz="11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Datawrapper</a:t>
                      </a:r>
                      <a:endParaRPr lang="ru-RU" sz="11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RPTG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004"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Стоимость</a:t>
                      </a:r>
                      <a:endParaRPr lang="ru-RU" sz="11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Бесплатно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Бесплатно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Платно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Бесплатно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Подписка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004"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Визуализация данных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7331"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Работа с собственными источниками данных(</a:t>
                      </a: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CSV</a:t>
                      </a:r>
                      <a:r>
                        <a:rPr lang="ru-RU" sz="1400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, </a:t>
                      </a:r>
                      <a:r>
                        <a:rPr lang="ru-RU" sz="110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ru-RU" sz="1400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Excel  или др.)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6399"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Интеграция с БД пользователя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004"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Работа офлайн</a:t>
                      </a:r>
                      <a:endParaRPr lang="ru-RU" sz="11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6399"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Автоматическое выполнение запросов к БД</a:t>
                      </a:r>
                      <a:endParaRPr lang="ru-RU" sz="11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+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6399"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Автоматическое формирование запросов к БД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4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-</a:t>
                      </a:r>
                      <a:endParaRPr lang="ru-RU" sz="11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07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11560" y="6381328"/>
            <a:ext cx="1981200" cy="365760"/>
          </a:xfrm>
        </p:spPr>
        <p:txBody>
          <a:bodyPr/>
          <a:lstStyle/>
          <a:p>
            <a:fld id="{BEC76CCC-7CB1-4E7E-ADAD-75D5E03C7A7A}" type="slidenum">
              <a:rPr lang="ru-RU" smtClean="0"/>
              <a:t>4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окращение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времени работы оператора, участвующего в процессе подготовки информационной базы временных рядов на основе данных, хранящихся в реляционных базах данных.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07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Задачи: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5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Определение требовани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Определение архитектуры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системы; 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Определение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технологий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средств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разработки;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Проведение процесса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планирования;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Реализация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логики приложения;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Реализация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интерфейса приложения; 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Проведение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тестирования и устранение дефектов;</a:t>
            </a:r>
          </a:p>
        </p:txBody>
      </p:sp>
    </p:spTree>
    <p:extLst>
      <p:ext uri="{BB962C8B-B14F-4D97-AF65-F5344CB8AC3E}">
        <p14:creationId xmlns:p14="http://schemas.microsoft.com/office/powerpoint/2010/main" val="124462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Контекстная диаграмма «КАК-ЕСТЬ»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6</a:t>
            </a:fld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322839" cy="4719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0926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Декомпозиция контекстной диаграммы «КАК-ЕСТЬ»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7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18" y="1196752"/>
            <a:ext cx="87249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89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Модель бизнес-процессов «КАК-ДОЛЖНО-БЫТЬ»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8</a:t>
            </a:fld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392"/>
            <a:ext cx="8721030" cy="4980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299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Декомпозиция контекстной диаграммы «КАК-ДОЛЖНО-БЫТЬ»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9</a:t>
            </a:fld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8737057" cy="4775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102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Календарный план проекта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10</a:t>
            </a:fld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895806"/>
              </p:ext>
            </p:extLst>
          </p:nvPr>
        </p:nvGraphicFramePr>
        <p:xfrm>
          <a:off x="539552" y="1268760"/>
          <a:ext cx="8424936" cy="496855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06234"/>
                <a:gridCol w="2106234"/>
                <a:gridCol w="2106234"/>
                <a:gridCol w="2106234"/>
              </a:tblGrid>
              <a:tr h="7097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Название работы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Дата начала</a:t>
                      </a:r>
                      <a:endParaRPr lang="ru-RU" sz="1400" kern="15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Дата окончания</a:t>
                      </a:r>
                      <a:endParaRPr lang="ru-RU" sz="1400" kern="15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Объём работ, ч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7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1. Анализ требований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11.02.20</a:t>
                      </a:r>
                      <a:endParaRPr lang="ru-RU" sz="1400" kern="15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15.02.20</a:t>
                      </a:r>
                      <a:endParaRPr lang="ru-RU" sz="1400" kern="15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Общее: 24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7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2. Проектирование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16.02.20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22.02.20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Общее: 22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7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3. Разработка ПО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23.02.20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24.03.20</a:t>
                      </a:r>
                      <a:endParaRPr lang="ru-RU" sz="1400" kern="15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Общее: 106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7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4. Тестирование приложения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26.03.20</a:t>
                      </a:r>
                      <a:endParaRPr lang="ru-RU" sz="1400" kern="15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17.04.20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Общее: </a:t>
                      </a:r>
                      <a:r>
                        <a:rPr lang="en-US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9</a:t>
                      </a: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2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7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5. Сдача готового продукта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18.04.20</a:t>
                      </a:r>
                      <a:endParaRPr lang="ru-RU" sz="1400" kern="15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19.04.20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18415" marR="1841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kern="1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Noto Sans CJK SC Regular"/>
                          <a:cs typeface="FreeSans"/>
                        </a:rPr>
                        <a:t>Общее: 4</a:t>
                      </a:r>
                      <a:endParaRPr lang="ru-RU" sz="1400" kern="150" dirty="0">
                        <a:effectLst/>
                        <a:latin typeface="Liberation Serif"/>
                        <a:ea typeface="Noto Sans CJK SC Regular"/>
                        <a:cs typeface="FreeSans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793"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Всего: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248</a:t>
                      </a:r>
                      <a:endParaRPr lang="ru-RU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52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Функциональная структура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11</a:t>
            </a:fld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349497" y="1628800"/>
            <a:ext cx="8352927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20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Диаграмма классов модуля </a:t>
            </a:r>
            <a:r>
              <a:rPr lang="en-US" dirty="0" smtClean="0"/>
              <a:t>Models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12</a:t>
            </a:fld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1259632" y="1252853"/>
            <a:ext cx="6480720" cy="50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 </a:t>
            </a:r>
            <a:r>
              <a:rPr lang="ru-RU" dirty="0" smtClean="0"/>
              <a:t>модуля</a:t>
            </a:r>
            <a:r>
              <a:rPr lang="en-US" dirty="0" smtClean="0"/>
              <a:t> Service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13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95536" y="1218237"/>
            <a:ext cx="8395579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5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 </a:t>
            </a:r>
            <a:r>
              <a:rPr lang="ru-RU" dirty="0" smtClean="0"/>
              <a:t>модуля</a:t>
            </a:r>
            <a:r>
              <a:rPr lang="en-US" dirty="0" smtClean="0"/>
              <a:t> Forms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14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539552" y="1268760"/>
            <a:ext cx="8064896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47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Схема базы данных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15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1389537"/>
            <a:ext cx="8568952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2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Алгоритм извлечения и сохранения временных рядов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16</a:t>
            </a:fld>
            <a:endParaRPr lang="ru-RU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057" y="1196752"/>
            <a:ext cx="2880320" cy="508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084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Процесс взаимодействия компонентов системы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17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267744" y="1268760"/>
            <a:ext cx="4830916" cy="499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Развертывание системы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18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2183677" y="1196752"/>
            <a:ext cx="4987826" cy="511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6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Технологии</a:t>
            </a:r>
            <a:r>
              <a:rPr lang="en-US" dirty="0" smtClean="0"/>
              <a:t> </a:t>
            </a:r>
            <a:r>
              <a:rPr lang="ru-RU" dirty="0" smtClean="0"/>
              <a:t>и инструменты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19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Visual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Studio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C#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WPF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Microsoft SQL Server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Entity Framework</a:t>
            </a:r>
          </a:p>
          <a:p>
            <a:r>
              <a:rPr lang="ru-RU" dirty="0" err="1">
                <a:latin typeface="Times New Roman" pitchFamily="18" charset="0"/>
                <a:cs typeface="Times New Roman" pitchFamily="18" charset="0"/>
              </a:rPr>
              <a:t>Npgsql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120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Главная форма приложения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20</a:t>
            </a:fld>
            <a:endParaRPr lang="ru-RU"/>
          </a:p>
        </p:txBody>
      </p:sp>
      <p:pic>
        <p:nvPicPr>
          <p:cNvPr id="6" name="Рисунок 5" descr="https://sun9-67.userapi.com/2kxcVVWZvs98XZhWJCB5LGotx1xeHRyolHTOlg/VofPLI1ONys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49475"/>
            <a:ext cx="7848872" cy="50344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323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Форма для просмотра информации о базе данных и временных рядов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21</a:t>
            </a:fld>
            <a:endParaRPr lang="ru-RU"/>
          </a:p>
        </p:txBody>
      </p:sp>
      <p:pic>
        <p:nvPicPr>
          <p:cNvPr id="5" name="Рисунок 4" descr="Описание: https://sun9-14.userapi.com/c206516/v206516205/a77de/zU_eZaaL2FQ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8280920" cy="48965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413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 для добавления новой базы данных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22</a:t>
            </a:fld>
            <a:endParaRPr lang="ru-RU"/>
          </a:p>
        </p:txBody>
      </p:sp>
      <p:pic>
        <p:nvPicPr>
          <p:cNvPr id="5" name="Рисунок 4" descr="Описание: https://sun9-30.userapi.com/c206516/v206516205/a77e5/UvdBAAZ0RVQ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412776"/>
            <a:ext cx="3312368" cy="4680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500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Форма для просмотра справки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23</a:t>
            </a:fld>
            <a:endParaRPr lang="ru-RU"/>
          </a:p>
        </p:txBody>
      </p:sp>
      <p:pic>
        <p:nvPicPr>
          <p:cNvPr id="5" name="Рисунок 4" descr="https://sun9-58.userapi.com/GIo63JiUxFByhzgKUkgVgZ9xHpg2gPV3kVhf3A/_cJI4Mt3kYQ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196752"/>
            <a:ext cx="8064896" cy="51125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815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Форма для расширенного просмотра временных рядов реляционных баз данных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24</a:t>
            </a:fld>
            <a:endParaRPr lang="ru-RU"/>
          </a:p>
        </p:txBody>
      </p:sp>
      <p:pic>
        <p:nvPicPr>
          <p:cNvPr id="5" name="Рисунок 4" descr="https://sun9-2.userapi.com/t-Pf55gSrbq_0VAce4m83N5fTHzckVQb4ZlGew/y_C82HlD00Q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90" y="1268760"/>
            <a:ext cx="7920879" cy="5040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289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25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рамках выполнения выпускной квалификационной работы было реализовано приложения для ПК, выполняющее функции извлечения, хранения и визуализации временных рядов на основе данных, хранящихся в реляционных базах данных.</a:t>
            </a:r>
          </a:p>
          <a:p>
            <a:pPr marL="0" indent="0"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Сокращение времени оператора, занимающегося извлечением временных рядов, составляет 99,97%.</a:t>
            </a:r>
          </a:p>
        </p:txBody>
      </p:sp>
    </p:spTree>
    <p:extLst>
      <p:ext uri="{BB962C8B-B14F-4D97-AF65-F5344CB8AC3E}">
        <p14:creationId xmlns:p14="http://schemas.microsoft.com/office/powerpoint/2010/main" val="351374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990600"/>
          </a:xfrm>
        </p:spPr>
        <p:txBody>
          <a:bodyPr/>
          <a:lstStyle/>
          <a:p>
            <a:r>
              <a:rPr lang="ru-RU" dirty="0" smtClean="0"/>
              <a:t>Алгоритм подсчета времени оператора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26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457710861"/>
              </p:ext>
            </p:extLst>
          </p:nvPr>
        </p:nvGraphicFramePr>
        <p:xfrm>
          <a:off x="251520" y="980728"/>
          <a:ext cx="8712968" cy="5359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040560"/>
                <a:gridCol w="3672408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Параметр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Значение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Время добавления БД</a:t>
                      </a:r>
                      <a:r>
                        <a:rPr lang="ru-RU" baseline="0" dirty="0" smtClean="0"/>
                        <a:t> в систему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r>
                        <a:rPr lang="en-US" sz="1000" dirty="0" smtClean="0"/>
                        <a:t>a</a:t>
                      </a:r>
                      <a:r>
                        <a:rPr lang="en-US" dirty="0" smtClean="0"/>
                        <a:t> =</a:t>
                      </a:r>
                      <a:r>
                        <a:rPr lang="en-US" baseline="0" dirty="0" smtClean="0"/>
                        <a:t> </a:t>
                      </a:r>
                      <a:r>
                        <a:rPr lang="ru-RU" dirty="0" smtClean="0"/>
                        <a:t>10 сек = 0.17</a:t>
                      </a:r>
                      <a:r>
                        <a:rPr lang="ru-RU" baseline="0" dirty="0" smtClean="0"/>
                        <a:t> мин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Время выполнения</a:t>
                      </a:r>
                      <a:r>
                        <a:rPr lang="ru-RU" baseline="0" dirty="0" smtClean="0"/>
                        <a:t> запроса вручную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r>
                        <a:rPr lang="ru-RU" sz="1050" dirty="0" smtClean="0"/>
                        <a:t>1</a:t>
                      </a:r>
                      <a:r>
                        <a:rPr lang="en-US" dirty="0" smtClean="0"/>
                        <a:t> </a:t>
                      </a:r>
                      <a:r>
                        <a:rPr lang="en-US" baseline="0" dirty="0" smtClean="0"/>
                        <a:t>= </a:t>
                      </a:r>
                      <a:r>
                        <a:rPr lang="ru-RU" dirty="0" smtClean="0"/>
                        <a:t>15 сек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Время</a:t>
                      </a:r>
                      <a:r>
                        <a:rPr lang="ru-RU" baseline="0" dirty="0" smtClean="0"/>
                        <a:t> сохранения точки временного ряда в БД</a:t>
                      </a:r>
                      <a:endParaRPr lang="ru-RU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r>
                        <a:rPr lang="en-US" sz="1000" dirty="0" smtClean="0"/>
                        <a:t>2</a:t>
                      </a:r>
                      <a:r>
                        <a:rPr lang="en-US" dirty="0" smtClean="0"/>
                        <a:t> = </a:t>
                      </a:r>
                      <a:r>
                        <a:rPr lang="ru-RU" dirty="0" smtClean="0"/>
                        <a:t>15 сек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r>
                        <a:rPr lang="ru-RU" baseline="0" dirty="0" smtClean="0"/>
                        <a:t> сущностей в БД из контрольного примера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x = </a:t>
                      </a:r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 атрибутов в каждой сущности БД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 = </a:t>
                      </a:r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Общее кол-во записей в БД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z = </a:t>
                      </a:r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 точек временного</a:t>
                      </a:r>
                      <a:r>
                        <a:rPr lang="ru-RU" baseline="0" dirty="0" smtClean="0"/>
                        <a:t> ряда при 1 проверке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 = x + y*z = 2+3*6=20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Время</a:t>
                      </a:r>
                      <a:r>
                        <a:rPr lang="ru-RU" baseline="0" dirty="0" smtClean="0"/>
                        <a:t> работы оператора при выполнении 1 проверки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 = (t</a:t>
                      </a:r>
                      <a:r>
                        <a:rPr lang="ru-RU" sz="1000" dirty="0" smtClean="0"/>
                        <a:t>1</a:t>
                      </a:r>
                      <a:r>
                        <a:rPr lang="en-US" dirty="0" smtClean="0"/>
                        <a:t>+t</a:t>
                      </a:r>
                      <a:r>
                        <a:rPr lang="en-US" sz="1000" dirty="0" smtClean="0"/>
                        <a:t>2</a:t>
                      </a:r>
                      <a:r>
                        <a:rPr lang="en-US" dirty="0" smtClean="0"/>
                        <a:t>)*k = (15+15)*20</a:t>
                      </a:r>
                      <a:r>
                        <a:rPr lang="en-US" baseline="0" dirty="0" smtClean="0"/>
                        <a:t> = 600</a:t>
                      </a:r>
                      <a:r>
                        <a:rPr lang="ru-RU" baseline="0" dirty="0" smtClean="0"/>
                        <a:t> сек = 10 мин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Регулярность проверок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 = </a:t>
                      </a:r>
                      <a:r>
                        <a:rPr lang="ru-RU" dirty="0" smtClean="0"/>
                        <a:t>12 часов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Период извлечения временных рядов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= </a:t>
                      </a:r>
                      <a:r>
                        <a:rPr lang="ru-RU" dirty="0" smtClean="0"/>
                        <a:t>30 дней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Время работы</a:t>
                      </a:r>
                      <a:r>
                        <a:rPr lang="ru-RU" baseline="0" dirty="0" smtClean="0"/>
                        <a:t> оператора за всё время 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</a:t>
                      </a:r>
                      <a:r>
                        <a:rPr lang="en-US" sz="1050" dirty="0" err="1" smtClean="0"/>
                        <a:t>h</a:t>
                      </a:r>
                      <a:r>
                        <a:rPr lang="en-US" baseline="0" dirty="0" smtClean="0"/>
                        <a:t> = d*24/r*t=30*24/12*10=600</a:t>
                      </a:r>
                      <a:r>
                        <a:rPr lang="ru-RU" baseline="0" dirty="0" smtClean="0"/>
                        <a:t> мин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Сокращение времени работы оператора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</a:t>
                      </a:r>
                      <a:r>
                        <a:rPr lang="en-US" dirty="0" err="1" smtClean="0"/>
                        <a:t>t</a:t>
                      </a:r>
                      <a:r>
                        <a:rPr lang="en-US" sz="1000" dirty="0" err="1" smtClean="0"/>
                        <a:t>h</a:t>
                      </a:r>
                      <a:r>
                        <a:rPr lang="en-US" baseline="0" dirty="0" smtClean="0"/>
                        <a:t>–t</a:t>
                      </a:r>
                      <a:r>
                        <a:rPr lang="en-US" sz="1000" baseline="0" dirty="0" smtClean="0"/>
                        <a:t>a</a:t>
                      </a:r>
                      <a:r>
                        <a:rPr lang="en-US" baseline="0" dirty="0" smtClean="0"/>
                        <a:t>)/</a:t>
                      </a:r>
                      <a:r>
                        <a:rPr lang="en-US" baseline="0" dirty="0" err="1" smtClean="0"/>
                        <a:t>t</a:t>
                      </a:r>
                      <a:r>
                        <a:rPr lang="en-US" sz="1000" baseline="0" dirty="0" err="1" smtClean="0"/>
                        <a:t>h</a:t>
                      </a:r>
                      <a:r>
                        <a:rPr lang="en-US" baseline="0" dirty="0" smtClean="0"/>
                        <a:t> * 100% = (600 – 0.17)/600 = 99.97%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12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27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Цель проекта достигнута.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Время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работы оператора,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сокращено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 99,97%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Реализованная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система позволит пользователю, не имеющему знаний в области анализа, выполнить подготовку информационной базы временных рядов, которую можно использовать в решении задач прогнозирования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моделирования.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Цели на будущее: 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Интеграция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системы с существующими инструментами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анализа данных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расширение спектра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СУБД, с которыми может взаимодействовать система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0891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76CCC-7CB1-4E7E-ADAD-75D5E03C7A7A}" type="slidenum">
              <a:rPr lang="ru-RU" smtClean="0"/>
              <a:t>28</a:t>
            </a:fld>
            <a:endParaRPr lang="ru-RU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56005" y="2636912"/>
            <a:ext cx="8229600" cy="9906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 smtClean="0"/>
              <a:t>Спасибо за внимание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28613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622</TotalTime>
  <Words>652</Words>
  <Application>Microsoft Office PowerPoint</Application>
  <PresentationFormat>Экран (4:3)</PresentationFormat>
  <Paragraphs>190</Paragraphs>
  <Slides>28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Начальная</vt:lpstr>
      <vt:lpstr>Разработка системы автоматического извлечения временных рядов из реляционных баз данных</vt:lpstr>
      <vt:lpstr>Актуальность</vt:lpstr>
      <vt:lpstr>Аналоги</vt:lpstr>
      <vt:lpstr>Цели</vt:lpstr>
      <vt:lpstr>Задачи:</vt:lpstr>
      <vt:lpstr>Контекстная диаграмма «КАК-ЕСТЬ»</vt:lpstr>
      <vt:lpstr>Декомпозиция контекстной диаграммы «КАК-ЕСТЬ»</vt:lpstr>
      <vt:lpstr>Модель бизнес-процессов «КАК-ДОЛЖНО-БЫТЬ»</vt:lpstr>
      <vt:lpstr>Декомпозиция контекстной диаграммы «КАК-ДОЛЖНО-БЫТЬ»</vt:lpstr>
      <vt:lpstr>Календарный план проекта</vt:lpstr>
      <vt:lpstr>Функциональная структура</vt:lpstr>
      <vt:lpstr>Диаграмма классов модуля Models</vt:lpstr>
      <vt:lpstr>Диаграмма классов модуля Service</vt:lpstr>
      <vt:lpstr>Диаграмма классов модуля Forms</vt:lpstr>
      <vt:lpstr>Схема базы данных</vt:lpstr>
      <vt:lpstr>Алгоритм извлечения и сохранения временных рядов</vt:lpstr>
      <vt:lpstr>Процесс взаимодействия компонентов системы</vt:lpstr>
      <vt:lpstr>Развертывание системы</vt:lpstr>
      <vt:lpstr>Технологии и инструменты</vt:lpstr>
      <vt:lpstr>Главная форма приложения</vt:lpstr>
      <vt:lpstr>Форма для просмотра информации о базе данных и временных рядов</vt:lpstr>
      <vt:lpstr>Форма для добавления новой базы данных</vt:lpstr>
      <vt:lpstr>Форма для просмотра справки</vt:lpstr>
      <vt:lpstr>Форма для расширенного просмотра временных рядов реляционных баз данных</vt:lpstr>
      <vt:lpstr>Результаты</vt:lpstr>
      <vt:lpstr>Алгоритм подсчета времени оператора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алёна</dc:creator>
  <cp:lastModifiedBy>алёна</cp:lastModifiedBy>
  <cp:revision>22</cp:revision>
  <dcterms:created xsi:type="dcterms:W3CDTF">2020-06-10T17:21:11Z</dcterms:created>
  <dcterms:modified xsi:type="dcterms:W3CDTF">2020-06-14T15:01:57Z</dcterms:modified>
</cp:coreProperties>
</file>